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built from the six landscape diagrams, each rendered at 3840x2160 for crisp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diagrams, in the order of the system: flow, use cases, data model, flowchart, data flow,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Walks the full lifecycle: a visitor browses, submits an inquiry, the server validates and files it, admin reviews the intake queue and converts a qualified inquiry into a numbered matter, the lawyer and team are assigned, and the client collaborates in the portal until the matter closes with a complete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actor lanes map every use case to the real permission model. Break-glass document access is admin-only and always audited. Clients message the team and exchange documents on their own matters; lawyers manage assigned matters, internal notes and the matter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schema as deployed: profiles with composite names, matters as the hub, matter_members / matter_notes / matter_events, documents with access levels and 15-minute break-glass grants, notifications and the audit_logs trail. Enum values are listed at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decisions gate the intake: qualification by admin review, and the requirement that a registered client account exists before conversion. Invalid submissions loop back with a clear 400. The side panel shows the admin-only break-glass path for confidential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Level-1 data flow: visitors, clients, lawyers and admins feed four processes, which read and write seven data stores. Gold dashed lines are read paths (public pages, identity). Every other flow passes through row-level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bands: users, the React 19 SPA hosted on Vercel, the Supabase platform (auth, API, realtime, storage, edge functions), the PostgreSQL data tier, and the cross-cutting security spine. The browser never holds anything more than the anon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properties that hold across the whole system — all enforced in the database, not just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47088"/>
            <a:ext cx="1005840" cy="50292"/>
          </a:xfrm>
          <a:prstGeom prst="rect">
            <a:avLst/>
          </a:prstGeom>
          <a:solidFill>
            <a:srgbClr val="C49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300">
                <a:solidFill>
                  <a:srgbClr val="C49D3F"/>
                </a:solidFill>
                <a:latin typeface="Segoe UI"/>
              </a:rPr>
              <a:t>WESTWOOD LAW FIRM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Georgia"/>
              </a:rPr>
              <a:t>System Architecture &amp; Process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12463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0">
                <a:solidFill>
                  <a:srgbClr val="A3AFC2"/>
                </a:solidFill>
                <a:latin typeface="Segoe UI"/>
              </a:rPr>
              <a:t>System flow · use cases · data model · process flowchart · data flow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>
                <a:solidFill>
                  <a:srgbClr val="7A8AA3"/>
                </a:solidFill>
                <a:latin typeface="Segoe UI"/>
              </a:rPr>
              <a:t>Westwood Law Firm — Client Portal</a:t>
            </a:r>
            <a:r>
              <a:rPr sz="1150" b="0">
                <a:solidFill>
                  <a:srgbClr val="7A8AA3"/>
                </a:solidFill>
                <a:latin typeface="Segoe UI"/>
              </a:rPr>
              <a:t>      Prepared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685800" cy="45720"/>
          </a:xfrm>
          <a:prstGeom prst="rect">
            <a:avLst/>
          </a:prstGeom>
          <a:solidFill>
            <a:srgbClr val="C49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0B1B35"/>
                </a:solidFill>
                <a:latin typeface="Georgia"/>
              </a:rPr>
              <a:t>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1663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11095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>
                <a:solidFill>
                  <a:srgbClr val="C49D3F"/>
                </a:solidFill>
                <a:latin typeface="Segoe UI"/>
              </a:rPr>
              <a:t>01  </a:t>
            </a:r>
            <a:r>
              <a:rPr sz="1600" b="1">
                <a:solidFill>
                  <a:srgbClr val="0B1B35"/>
                </a:solidFill>
                <a:latin typeface="Georgia"/>
              </a:rPr>
              <a:t>System Flow</a:t>
            </a:r>
          </a:p>
          <a:p>
            <a:r>
              <a:rPr sz="1150" b="0">
                <a:solidFill>
                  <a:srgbClr val="7A8AA3"/>
                </a:solidFill>
                <a:latin typeface="Segoe UI"/>
              </a:rPr>
              <a:t>Lead-to-matter lifecycle in eight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3368" y="1691640"/>
            <a:ext cx="51663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5976" y="1911095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>
                <a:solidFill>
                  <a:srgbClr val="C49D3F"/>
                </a:solidFill>
                <a:latin typeface="Segoe UI"/>
              </a:rPr>
              <a:t>02  </a:t>
            </a:r>
            <a:r>
              <a:rPr sz="1600" b="1">
                <a:solidFill>
                  <a:srgbClr val="0B1B35"/>
                </a:solidFill>
                <a:latin typeface="Georgia"/>
              </a:rPr>
              <a:t>Use Cases</a:t>
            </a:r>
          </a:p>
          <a:p>
            <a:r>
              <a:rPr sz="1150" b="0">
                <a:solidFill>
                  <a:srgbClr val="7A8AA3"/>
                </a:solidFill>
                <a:latin typeface="Segoe UI"/>
              </a:rPr>
              <a:t>Visitor · Client · Lawyer · Admin — who can do what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1663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465576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>
                <a:solidFill>
                  <a:srgbClr val="C49D3F"/>
                </a:solidFill>
                <a:latin typeface="Segoe UI"/>
              </a:rPr>
              <a:t>03  </a:t>
            </a:r>
            <a:r>
              <a:rPr sz="1600" b="1">
                <a:solidFill>
                  <a:srgbClr val="0B1B35"/>
                </a:solidFill>
                <a:latin typeface="Georgia"/>
              </a:rPr>
              <a:t>Entity Relationship</a:t>
            </a:r>
          </a:p>
          <a:p>
            <a:r>
              <a:rPr sz="1150" b="0">
                <a:solidFill>
                  <a:srgbClr val="7A8AA3"/>
                </a:solidFill>
                <a:latin typeface="Segoe UI"/>
              </a:rPr>
              <a:t>PostgreSQL data model with RLS on every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3368" y="3246120"/>
            <a:ext cx="51663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3465576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>
                <a:solidFill>
                  <a:srgbClr val="C49D3F"/>
                </a:solidFill>
                <a:latin typeface="Segoe UI"/>
              </a:rPr>
              <a:t>04  </a:t>
            </a:r>
            <a:r>
              <a:rPr sz="1600" b="1">
                <a:solidFill>
                  <a:srgbClr val="0B1B35"/>
                </a:solidFill>
                <a:latin typeface="Georgia"/>
              </a:rPr>
              <a:t>Process Flowchart</a:t>
            </a:r>
          </a:p>
          <a:p>
            <a:r>
              <a:rPr sz="1150" b="0">
                <a:solidFill>
                  <a:srgbClr val="7A8AA3"/>
                </a:solidFill>
                <a:latin typeface="Segoe UI"/>
              </a:rPr>
              <a:t>Decision points, validation loop, break-glass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0600"/>
            <a:ext cx="51663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020056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>
                <a:solidFill>
                  <a:srgbClr val="C49D3F"/>
                </a:solidFill>
                <a:latin typeface="Segoe UI"/>
              </a:rPr>
              <a:t>05  </a:t>
            </a:r>
            <a:r>
              <a:rPr sz="1600" b="1">
                <a:solidFill>
                  <a:srgbClr val="0B1B35"/>
                </a:solidFill>
                <a:latin typeface="Georgia"/>
              </a:rPr>
              <a:t>Data Flow</a:t>
            </a:r>
          </a:p>
          <a:p>
            <a:r>
              <a:rPr sz="1150" b="0">
                <a:solidFill>
                  <a:srgbClr val="7A8AA3"/>
                </a:solidFill>
                <a:latin typeface="Segoe UI"/>
              </a:rPr>
              <a:t>Entities → processes → data stores (level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4800600"/>
            <a:ext cx="51663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5976" y="5020056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>
                <a:solidFill>
                  <a:srgbClr val="C49D3F"/>
                </a:solidFill>
                <a:latin typeface="Segoe UI"/>
              </a:rPr>
              <a:t>06  </a:t>
            </a:r>
            <a:r>
              <a:rPr sz="1600" b="1">
                <a:solidFill>
                  <a:srgbClr val="0B1B35"/>
                </a:solidFill>
                <a:latin typeface="Georgia"/>
              </a:rPr>
              <a:t>System Architecture</a:t>
            </a:r>
          </a:p>
          <a:p>
            <a:r>
              <a:rPr sz="1150" b="0">
                <a:solidFill>
                  <a:srgbClr val="7A8AA3"/>
                </a:solidFill>
                <a:latin typeface="Segoe UI"/>
              </a:rPr>
              <a:t>React SPA → Supabase → PostgreSQL, end to 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ystem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use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58368"/>
            <a:ext cx="685800" cy="45720"/>
          </a:xfrm>
          <a:prstGeom prst="rect">
            <a:avLst/>
          </a:prstGeom>
          <a:solidFill>
            <a:srgbClr val="C49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Security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39112"/>
            <a:ext cx="91440" cy="91440"/>
          </a:xfrm>
          <a:prstGeom prst="rect">
            <a:avLst/>
          </a:prstGeom>
          <a:solidFill>
            <a:srgbClr val="C49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865376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D8B86A"/>
                </a:solidFill>
                <a:latin typeface="Segoe UI"/>
              </a:rPr>
              <a:t>Row-level security on every table</a:t>
            </a:r>
          </a:p>
          <a:p>
            <a:r>
              <a:rPr sz="1150" b="0">
                <a:solidFill>
                  <a:srgbClr val="A3AFC2"/>
                </a:solidFill>
                <a:latin typeface="Segoe UI"/>
              </a:rPr>
              <a:t>Policies are the only gate — client · lawyer · admin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07791"/>
            <a:ext cx="91440" cy="91440"/>
          </a:xfrm>
          <a:prstGeom prst="rect">
            <a:avLst/>
          </a:prstGeom>
          <a:solidFill>
            <a:srgbClr val="C49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734056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D8B86A"/>
                </a:solidFill>
                <a:latin typeface="Segoe UI"/>
              </a:rPr>
              <a:t>Break-glass is admin-only and audited</a:t>
            </a:r>
          </a:p>
          <a:p>
            <a:r>
              <a:rPr sz="1150" b="0">
                <a:solidFill>
                  <a:srgbClr val="A3AFC2"/>
                </a:solidFill>
                <a:latin typeface="Segoe UI"/>
              </a:rPr>
              <a:t>Reason ≥ 15 characters · 15-minute expiry · lead lawyer notified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76472"/>
            <a:ext cx="91440" cy="91440"/>
          </a:xfrm>
          <a:prstGeom prst="rect">
            <a:avLst/>
          </a:prstGeom>
          <a:solidFill>
            <a:srgbClr val="C49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602736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D8B86A"/>
                </a:solidFill>
                <a:latin typeface="Segoe UI"/>
              </a:rPr>
              <a:t>The audit trail cannot be forged or erased</a:t>
            </a:r>
          </a:p>
          <a:p>
            <a:r>
              <a:rPr sz="1150" b="0">
                <a:solidFill>
                  <a:srgbClr val="A3AFC2"/>
                </a:solidFill>
                <a:latin typeface="Segoe UI"/>
              </a:rPr>
              <a:t>Trigger-written vs client-reported rows are stamped · cleanup is admin-only with a 30-day floor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645152"/>
            <a:ext cx="91440" cy="91440"/>
          </a:xfrm>
          <a:prstGeom prst="rect">
            <a:avLst/>
          </a:prstGeom>
          <a:solidFill>
            <a:srgbClr val="C49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4471416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D8B86A"/>
                </a:solidFill>
                <a:latin typeface="Segoe UI"/>
              </a:rPr>
              <a:t>Deactivated accounts are denied by the database</a:t>
            </a:r>
          </a:p>
          <a:p>
            <a:r>
              <a:rPr sz="1150" b="0">
                <a:solidFill>
                  <a:srgbClr val="A3AFC2"/>
                </a:solidFill>
                <a:latin typeface="Segoe UI"/>
              </a:rPr>
              <a:t>The role helpers return nothing for inactive users — not just a UI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513832"/>
            <a:ext cx="91440" cy="91440"/>
          </a:xfrm>
          <a:prstGeom prst="rect">
            <a:avLst/>
          </a:prstGeom>
          <a:solidFill>
            <a:srgbClr val="C49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5340096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D8B86A"/>
                </a:solidFill>
                <a:latin typeface="Segoe UI"/>
              </a:rPr>
              <a:t>Nothing sensitive in the browser</a:t>
            </a:r>
          </a:p>
          <a:p>
            <a:r>
              <a:rPr sz="1150" b="0">
                <a:solidFill>
                  <a:srgbClr val="A3AFC2"/>
                </a:solidFill>
                <a:latin typeface="Segoe UI"/>
              </a:rPr>
              <a:t>No service-role key, no custom server — one source of truth: 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